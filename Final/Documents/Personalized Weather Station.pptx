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Medium"/>
      <p:regular r:id="rId23"/>
      <p:bold r:id="rId24"/>
      <p:italic r:id="rId25"/>
      <p:boldItalic r:id="rId26"/>
    </p:embeddedFont>
    <p:embeddedFont>
      <p:font typeface="Nunito Sans SemiBold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  <p:embeddedFont>
      <p:font typeface="Nunito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Medium-bold.fntdata"/><Relationship Id="rId23" Type="http://schemas.openxmlformats.org/officeDocument/2006/relationships/font" Target="fonts/Poppi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boldItalic.fntdata"/><Relationship Id="rId25" Type="http://schemas.openxmlformats.org/officeDocument/2006/relationships/font" Target="fonts/PoppinsMedium-italic.fntdata"/><Relationship Id="rId28" Type="http://schemas.openxmlformats.org/officeDocument/2006/relationships/font" Target="fonts/NunitoSansSemiBold-bold.fntdata"/><Relationship Id="rId27" Type="http://schemas.openxmlformats.org/officeDocument/2006/relationships/font" Target="fonts/Nunito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NunitoSa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35" Type="http://schemas.openxmlformats.org/officeDocument/2006/relationships/font" Target="fonts/NunitoSans-regular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NunitoSans-italic.fntdata"/><Relationship Id="rId14" Type="http://schemas.openxmlformats.org/officeDocument/2006/relationships/slide" Target="slides/slide9.xml"/><Relationship Id="rId36" Type="http://schemas.openxmlformats.org/officeDocument/2006/relationships/font" Target="fonts/Nunito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NunitoSans-boldItalic.fntdata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de6af29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dde6af29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de6af294e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de6af294e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de6af294e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dde6af294e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de6af294e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de6af294e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de6af294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dde6af294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de6af294e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de6af294e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de6af294e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dde6af294e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de6af294e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dde6af294e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f75c6daa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df75c6daa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f75c6daa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df75c6daa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f75c6da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f75c6da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de6af294e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dde6af294e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de6af294e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dde6af294e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49303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67899" l="18884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b="0" l="55739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22" name="Google Shape;22;p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" name="Google Shape;23;p3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" name="Google Shape;33;p5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" name="Google Shape;34;p5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" name="Google Shape;35;p5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" name="Google Shape;36;p5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5" name="Google Shape;45;p5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8" name="Google Shape;48;p5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9" name="Google Shape;49;p5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BLANK_1_1_1_1_2_3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1" name="Google Shape;61;p6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3" name="Google Shape;63;p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" name="Google Shape;64;p6"/>
          <p:cNvSpPr/>
          <p:nvPr>
            <p:ph idx="3" type="pic"/>
          </p:nvPr>
        </p:nvSpPr>
        <p:spPr>
          <a:xfrm>
            <a:off x="98845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65" name="Google Shape;65;p6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6" type="body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8" name="Google Shape;68;p6"/>
          <p:cNvSpPr/>
          <p:nvPr>
            <p:ph idx="7" type="pic"/>
          </p:nvPr>
        </p:nvSpPr>
        <p:spPr>
          <a:xfrm>
            <a:off x="468550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69" name="Google Shape;69;p6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" name="Google Shape;71;p6"/>
          <p:cNvSpPr/>
          <p:nvPr>
            <p:ph idx="13" type="pic"/>
          </p:nvPr>
        </p:nvSpPr>
        <p:spPr>
          <a:xfrm>
            <a:off x="468550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72" name="Google Shape;72;p6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6" type="body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75" name="Google Shape;75;p6"/>
          <p:cNvSpPr/>
          <p:nvPr>
            <p:ph idx="17" type="pic"/>
          </p:nvPr>
        </p:nvSpPr>
        <p:spPr>
          <a:xfrm>
            <a:off x="98845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76" name="Google Shape;76;p6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2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1" name="Google Shape;81;p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299656" y="0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3" name="Google Shape;83;p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">
  <p:cSld name="BLANK_1_1_1_1_2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3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8" name="Google Shape;88;p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tatement">
  <p:cSld name="BLANK_1_1_1_1_1_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3" name="Google Shape;93;p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0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98" name="Google Shape;98;p10"/>
          <p:cNvSpPr/>
          <p:nvPr/>
        </p:nvSpPr>
        <p:spPr>
          <a:xfrm>
            <a:off x="6724719" y="-48"/>
            <a:ext cx="2419360" cy="1864544"/>
          </a:xfrm>
          <a:custGeom>
            <a:rect b="b" l="l" r="r" t="t"/>
            <a:pathLst>
              <a:path extrusionOk="0" h="58267" w="75605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0" y="3692104"/>
            <a:ext cx="2339584" cy="1451392"/>
          </a:xfrm>
          <a:custGeom>
            <a:rect b="b" l="l" r="r" t="t"/>
            <a:pathLst>
              <a:path extrusionOk="0" h="45356" w="73112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2">
            <a:alphaModFix/>
          </a:blip>
          <a:srcRect b="4753" l="57201" r="0" t="0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6" name="Google Shape;116;p1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17" name="Google Shape;117;p11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3" name="Google Shape;123;p11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2"/>
          <p:cNvPicPr preferRelativeResize="0"/>
          <p:nvPr/>
        </p:nvPicPr>
        <p:blipFill rotWithShape="1">
          <a:blip r:embed="rId2">
            <a:alphaModFix/>
          </a:blip>
          <a:srcRect b="0" l="0" r="0"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2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30" name="Google Shape;130;p12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" name="Google Shape;131;p12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2" name="Google Shape;132;p12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" name="Google Shape;134;p12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3"/>
          <p:cNvPicPr preferRelativeResize="0"/>
          <p:nvPr/>
        </p:nvPicPr>
        <p:blipFill rotWithShape="1">
          <a:blip r:embed="rId2">
            <a:alphaModFix/>
          </a:blip>
          <a:srcRect b="59421" l="0" r="0" t="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b="34692" l="150" r="0" t="0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4638645" y="1838308"/>
            <a:ext cx="4505344" cy="3305184"/>
          </a:xfrm>
          <a:custGeom>
            <a:rect b="b" l="l" r="r" t="t"/>
            <a:pathLst>
              <a:path extrusionOk="0" h="103287" w="140792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0" name="Google Shape;140;p13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42" name="Google Shape;142;p13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" name="Google Shape;143;p13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4" name="Google Shape;144;p13"/>
          <p:cNvSpPr/>
          <p:nvPr/>
        </p:nvSpPr>
        <p:spPr>
          <a:xfrm>
            <a:off x="7305660" y="0"/>
            <a:ext cx="1838336" cy="1509728"/>
          </a:xfrm>
          <a:custGeom>
            <a:rect b="b" l="l" r="r" t="t"/>
            <a:pathLst>
              <a:path extrusionOk="0" h="47179" w="57448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6" name="Google Shape;146;p13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BLANK_1_1_1_1_1_1_1_1_1_1_1_1_2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/>
          <p:cNvPicPr preferRelativeResize="0"/>
          <p:nvPr/>
        </p:nvPicPr>
        <p:blipFill rotWithShape="1">
          <a:blip r:embed="rId2">
            <a:alphaModFix/>
          </a:blip>
          <a:srcRect b="0" l="0" r="0"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37757" t="0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53" name="Google Shape;153;p14"/>
          <p:cNvSpPr txBox="1"/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4" name="Google Shape;154;p14"/>
          <p:cNvSpPr/>
          <p:nvPr/>
        </p:nvSpPr>
        <p:spPr>
          <a:xfrm>
            <a:off x="0" y="0"/>
            <a:ext cx="4296549" cy="4588647"/>
          </a:xfrm>
          <a:custGeom>
            <a:rect b="b" l="l" r="r" t="t"/>
            <a:pathLst>
              <a:path extrusionOk="0" h="146112" w="136811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5" name="Google Shape;155;p14"/>
          <p:cNvSpPr/>
          <p:nvPr>
            <p:ph idx="2" type="pic"/>
          </p:nvPr>
        </p:nvSpPr>
        <p:spPr>
          <a:xfrm>
            <a:off x="3138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56" name="Google Shape;156;p14"/>
          <p:cNvSpPr/>
          <p:nvPr/>
        </p:nvSpPr>
        <p:spPr>
          <a:xfrm>
            <a:off x="-1692" y="0"/>
            <a:ext cx="1834577" cy="1066372"/>
          </a:xfrm>
          <a:custGeom>
            <a:rect b="b" l="l" r="r" t="t"/>
            <a:pathLst>
              <a:path extrusionOk="0" h="34863" w="59978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8" name="Google Shape;158;p14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2">
            <a:alphaModFix/>
          </a:blip>
          <a:srcRect b="50879" l="0" r="0" t="0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5269687" y="0"/>
            <a:ext cx="3874304" cy="2438400"/>
          </a:xfrm>
          <a:custGeom>
            <a:rect b="b" l="l" r="r" t="t"/>
            <a:pathLst>
              <a:path extrusionOk="0" h="76200" w="121072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65" name="Google Shape;165;p15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66" name="Google Shape;166;p15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7" name="Google Shape;167;p15"/>
          <p:cNvSpPr/>
          <p:nvPr/>
        </p:nvSpPr>
        <p:spPr>
          <a:xfrm>
            <a:off x="4680310" y="3856552"/>
            <a:ext cx="2576544" cy="1302560"/>
          </a:xfrm>
          <a:custGeom>
            <a:rect b="b" l="l" r="r" t="t"/>
            <a:pathLst>
              <a:path extrusionOk="0" h="40705" w="80517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" name="Google Shape;169;p1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2" name="Google Shape;172;p16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4" type="body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5" name="Google Shape;175;p16"/>
          <p:cNvSpPr txBox="1"/>
          <p:nvPr>
            <p:ph idx="5" type="body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6" name="Google Shape;176;p16"/>
          <p:cNvSpPr txBox="1"/>
          <p:nvPr>
            <p:ph idx="6" type="body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7" name="Google Shape;177;p1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8" name="Google Shape;178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16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2_1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/>
        </p:nvPicPr>
        <p:blipFill rotWithShape="1">
          <a:blip r:embed="rId2">
            <a:alphaModFix/>
          </a:blip>
          <a:srcRect b="0" l="534" r="13408" t="71891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3" name="Google Shape;183;p17"/>
          <p:cNvSpPr txBox="1"/>
          <p:nvPr>
            <p:ph idx="2" type="body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4" name="Google Shape;184;p17"/>
          <p:cNvSpPr txBox="1"/>
          <p:nvPr>
            <p:ph idx="3" type="body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5" name="Google Shape;185;p17"/>
          <p:cNvSpPr txBox="1"/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4" type="title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2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87" name="Google Shape;187;p17"/>
          <p:cNvSpPr/>
          <p:nvPr>
            <p:ph idx="5" type="pic"/>
          </p:nvPr>
        </p:nvSpPr>
        <p:spPr>
          <a:xfrm>
            <a:off x="309350" y="1425725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49117" t="49683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>
            <p:ph idx="6" type="title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0" name="Google Shape;190;p17"/>
          <p:cNvSpPr/>
          <p:nvPr/>
        </p:nvSpPr>
        <p:spPr>
          <a:xfrm>
            <a:off x="7302102" y="-1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2" name="Google Shape;192;p17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6" name="Google Shape;196;p18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7" name="Google Shape;197;p18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8" name="Google Shape;198;p18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9" name="Google Shape;199;p18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0" name="Google Shape;200;p18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1" name="Google Shape;201;p18"/>
          <p:cNvSpPr txBox="1"/>
          <p:nvPr>
            <p:ph idx="7" type="body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2" name="Google Shape;202;p18"/>
          <p:cNvSpPr txBox="1"/>
          <p:nvPr>
            <p:ph idx="8" type="body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3" name="Google Shape;203;p18"/>
          <p:cNvSpPr txBox="1"/>
          <p:nvPr>
            <p:ph idx="9" type="body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4" name="Google Shape;204;p18"/>
          <p:cNvSpPr txBox="1"/>
          <p:nvPr>
            <p:ph idx="13" type="body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indent="-269875" lvl="1" marL="914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indent="-269875" lvl="2" marL="1371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indent="-269875" lvl="3" marL="1828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indent="-269875" lvl="4" marL="22860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indent="-269875" lvl="5" marL="2743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indent="-269875" lvl="6" marL="3200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indent="-269875" lvl="7" marL="3657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indent="-269875" lvl="8" marL="4114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5" name="Google Shape;205;p18"/>
          <p:cNvSpPr txBox="1"/>
          <p:nvPr>
            <p:ph idx="14" type="body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6" name="Google Shape;206;p18"/>
          <p:cNvSpPr txBox="1"/>
          <p:nvPr>
            <p:ph idx="15" type="body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7" name="Google Shape;207;p18"/>
          <p:cNvSpPr txBox="1"/>
          <p:nvPr>
            <p:ph idx="16" type="body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8" name="Google Shape;208;p18"/>
          <p:cNvSpPr txBox="1"/>
          <p:nvPr>
            <p:ph idx="17" type="body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9" name="Google Shape;209;p1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8" name="Google Shape;218;p18"/>
          <p:cNvSpPr txBox="1"/>
          <p:nvPr>
            <p:ph idx="26" type="body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19" name="Google Shape;219;p18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0" name="Google Shape;220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1" name="Google Shape;221;p18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BLANK_1_1_1_1_2_1_2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2" type="body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3" type="title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4" type="body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/>
          <p:nvPr>
            <p:ph idx="5" type="pic"/>
          </p:nvPr>
        </p:nvSpPr>
        <p:spPr>
          <a:xfrm>
            <a:off x="309350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19"/>
          <p:cNvSpPr txBox="1"/>
          <p:nvPr>
            <p:ph idx="6" type="title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7" type="title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8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3" name="Google Shape;233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4" name="Google Shape;234;p19"/>
          <p:cNvSpPr txBox="1"/>
          <p:nvPr>
            <p:ph idx="9" type="title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5" name="Google Shape;235;p19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BLANK_1_1_1_1_2_1_2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2" type="body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40" name="Google Shape;240;p20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3" type="title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4" type="title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5" type="title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6" type="title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5" name="Google Shape;245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6" name="Google Shape;246;p20"/>
          <p:cNvSpPr txBox="1"/>
          <p:nvPr>
            <p:ph idx="7" type="title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8" type="title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9" type="title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13" type="title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0" name="Google Shape;250;p20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1" name="Google Shape;251;p20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2" name="Google Shape;252;p20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3" name="Google Shape;253;p20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4" name="Google Shape;254;p20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5" name="Google Shape;255;p20"/>
          <p:cNvSpPr txBox="1"/>
          <p:nvPr>
            <p:ph idx="19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56" name="Google Shape;256;p20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7" name="Google Shape;257;p20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0" name="Google Shape;260;p20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1" name="Google Shape;261;p20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2" name="Google Shape;262;p20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3" name="Google Shape;263;p20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8" name="Google Shape;268;p21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9" name="Google Shape;269;p21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270" name="Google Shape;270;p21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2" name="Google Shape;272;p21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73" name="Google Shape;273;p21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4" name="Google Shape;274;p21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5" name="Google Shape;275;p21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6" name="Google Shape;276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21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3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81" name="Google Shape;281;p22"/>
          <p:cNvSpPr txBox="1"/>
          <p:nvPr>
            <p:ph idx="2" type="title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2" name="Google Shape;282;p22"/>
          <p:cNvSpPr txBox="1"/>
          <p:nvPr>
            <p:ph idx="3" type="title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3" name="Google Shape;283;p22"/>
          <p:cNvSpPr txBox="1"/>
          <p:nvPr>
            <p:ph idx="4" type="title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4" name="Google Shape;284;p22"/>
          <p:cNvSpPr txBox="1"/>
          <p:nvPr>
            <p:ph idx="5" type="title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6" type="title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6" name="Google Shape;286;p22"/>
          <p:cNvSpPr txBox="1"/>
          <p:nvPr>
            <p:ph idx="7" type="title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7" name="Google Shape;287;p22"/>
          <p:cNvSpPr txBox="1"/>
          <p:nvPr>
            <p:ph idx="8" type="title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9" type="title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9" name="Google Shape;289;p22"/>
          <p:cNvSpPr txBox="1"/>
          <p:nvPr>
            <p:ph idx="13" type="title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0" name="Google Shape;290;p22"/>
          <p:cNvSpPr txBox="1"/>
          <p:nvPr>
            <p:ph idx="14" type="title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idx="15" type="title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2" name="Google Shape;292;p2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3" name="Google Shape;293;p22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2"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00" name="Google Shape;300;p23"/>
          <p:cNvPicPr preferRelativeResize="0"/>
          <p:nvPr/>
        </p:nvPicPr>
        <p:blipFill rotWithShape="1">
          <a:blip r:embed="rId2">
            <a:alphaModFix/>
          </a:blip>
          <a:srcRect b="0" l="0" r="33897" t="70460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2" name="Google Shape;302;p23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3" name="Google Shape;303;p23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4" name="Google Shape;304;p23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5" name="Google Shape;305;p2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06" name="Google Shape;306;p23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7" name="Google Shape;307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p23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1" name="Google Shape;311;p24"/>
          <p:cNvPicPr preferRelativeResize="0"/>
          <p:nvPr/>
        </p:nvPicPr>
        <p:blipFill rotWithShape="1">
          <a:blip r:embed="rId2">
            <a:alphaModFix/>
          </a:blip>
          <a:srcRect b="46245" l="7339" r="0" t="0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3" name="Google Shape;313;p24"/>
          <p:cNvSpPr txBox="1"/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4" name="Google Shape;314;p24"/>
          <p:cNvSpPr/>
          <p:nvPr/>
        </p:nvSpPr>
        <p:spPr>
          <a:xfrm>
            <a:off x="-4" y="1992734"/>
            <a:ext cx="3736169" cy="3157919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5" name="Google Shape;315;p24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6" name="Google Shape;316;p24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7" name="Google Shape;317;p24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8" name="Google Shape;318;p24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BLANK_1_1_1_1_1_1_2">
    <p:bg>
      <p:bgPr>
        <a:solidFill>
          <a:schemeClr val="accen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 flipH="1" rot="10800000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25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324" name="Google Shape;324;p25"/>
          <p:cNvSpPr/>
          <p:nvPr/>
        </p:nvSpPr>
        <p:spPr>
          <a:xfrm flipH="1">
            <a:off x="11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5" name="Google Shape;325;p25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" name="Google Shape;33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40" name="Google Shape;340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4" name="Google Shape;344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9" name="Google Shape;349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8" name="Google Shape;358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65" name="Google Shape;365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7" name="Google Shape;367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3" name="Google Shape;373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5" name="Google Shape;375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3" name="Google Shape;383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7" name="Google Shape;397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0" name="Google Shape;400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5" name="Google Shape;40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6" name="Google Shape;406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7" name="Google Shape;407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9" name="Google Shape;419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Personalized</a:t>
            </a:r>
            <a:r>
              <a:rPr lang="en"/>
              <a:t> Weather Station</a:t>
            </a:r>
            <a:endParaRPr/>
          </a:p>
        </p:txBody>
      </p:sp>
      <p:sp>
        <p:nvSpPr>
          <p:cNvPr id="427" name="Google Shape;427;p45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Shival Panchal &amp; Joshua Chary</a:t>
            </a:r>
            <a:endParaRPr/>
          </a:p>
        </p:txBody>
      </p:sp>
      <p:sp>
        <p:nvSpPr>
          <p:cNvPr id="428" name="Google Shape;428;p45"/>
          <p:cNvSpPr/>
          <p:nvPr/>
        </p:nvSpPr>
        <p:spPr>
          <a:xfrm>
            <a:off x="3232578" y="3637225"/>
            <a:ext cx="6411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   8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29" name="Google Shape;429;p45"/>
          <p:cNvSpPr/>
          <p:nvPr/>
        </p:nvSpPr>
        <p:spPr>
          <a:xfrm>
            <a:off x="3910781" y="3637225"/>
            <a:ext cx="10776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May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30" name="Google Shape;430;p45"/>
          <p:cNvSpPr/>
          <p:nvPr/>
        </p:nvSpPr>
        <p:spPr>
          <a:xfrm>
            <a:off x="5039322" y="3637225"/>
            <a:ext cx="8721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2026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31" name="Google Shape;431;p45"/>
          <p:cNvSpPr/>
          <p:nvPr/>
        </p:nvSpPr>
        <p:spPr>
          <a:xfrm rot="-395291">
            <a:off x="3110326" y="3199308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2" name="Google Shape;432;p45"/>
          <p:cNvSpPr/>
          <p:nvPr/>
        </p:nvSpPr>
        <p:spPr>
          <a:xfrm rot="-509448">
            <a:off x="4276371" y="3322374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33" name="Google Shape;43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578275" cy="97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 txBox="1"/>
          <p:nvPr>
            <p:ph type="title"/>
          </p:nvPr>
        </p:nvSpPr>
        <p:spPr>
          <a:xfrm>
            <a:off x="2579250" y="157050"/>
            <a:ext cx="40794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Motivation?</a:t>
            </a:r>
            <a:endParaRPr sz="2700"/>
          </a:p>
        </p:txBody>
      </p:sp>
      <p:sp>
        <p:nvSpPr>
          <p:cNvPr id="439" name="Google Shape;439;p46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40" name="Google Shape;440;p46"/>
          <p:cNvSpPr txBox="1"/>
          <p:nvPr/>
        </p:nvSpPr>
        <p:spPr>
          <a:xfrm>
            <a:off x="1179300" y="888775"/>
            <a:ext cx="66915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Char char="●"/>
            </a:pPr>
            <a:r>
              <a:rPr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Weather affects daily decisions</a:t>
            </a:r>
            <a:endParaRPr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Char char="●"/>
            </a:pPr>
            <a:r>
              <a:rPr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Existing systems can be expensive or oversized</a:t>
            </a:r>
            <a:endParaRPr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Char char="●"/>
            </a:pPr>
            <a:r>
              <a:rPr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Goal was to create a compact personalized monitoring device</a:t>
            </a:r>
            <a:endParaRPr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Char char="●"/>
            </a:pPr>
            <a:r>
              <a:rPr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Learn schematic capture, layout, and design rule verification</a:t>
            </a:r>
            <a:endParaRPr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Char char="●"/>
            </a:pPr>
            <a:r>
              <a:rPr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Learn full PCB manufacturing workflow from concept to implementation</a:t>
            </a:r>
            <a:endParaRPr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unito Sans"/>
              <a:buChar char="●"/>
            </a:pPr>
            <a:r>
              <a:rPr lang="en" sz="20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Simulate a real product development cycle from concept to manufacturable design</a:t>
            </a:r>
            <a:endParaRPr sz="20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7"/>
          <p:cNvSpPr txBox="1"/>
          <p:nvPr>
            <p:ph type="title"/>
          </p:nvPr>
        </p:nvSpPr>
        <p:spPr>
          <a:xfrm>
            <a:off x="1671450" y="3784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Objectives:</a:t>
            </a:r>
            <a:endParaRPr sz="2800"/>
          </a:p>
        </p:txBody>
      </p:sp>
      <p:sp>
        <p:nvSpPr>
          <p:cNvPr id="446" name="Google Shape;446;p4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7"/>
          <p:cNvSpPr txBox="1"/>
          <p:nvPr/>
        </p:nvSpPr>
        <p:spPr>
          <a:xfrm>
            <a:off x="1778725" y="1073675"/>
            <a:ext cx="61623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 Sans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Measure environmental conditions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 Sans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Design a custom PCB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 Sans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Integrate sensors and microcontroller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 Sans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Manufacture and assemble the board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 Sans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Validate functionality through testing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 Sans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Create a compact and reliable system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 Sans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Try implementing a regression model to predict the future weather conditions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"/>
          <p:cNvSpPr txBox="1"/>
          <p:nvPr>
            <p:ph idx="1" type="body"/>
          </p:nvPr>
        </p:nvSpPr>
        <p:spPr>
          <a:xfrm>
            <a:off x="757200" y="594675"/>
            <a:ext cx="7545900" cy="41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ATmega328P-A — core microcontroller handling sensing, processing, and communication</a:t>
            </a:r>
            <a:endParaRPr b="1"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BME280 — environmental sensor measuring temperature, humidity, and pressure</a:t>
            </a:r>
            <a:endParaRPr b="1"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CH340C — USB-to-serial communication interface</a:t>
            </a:r>
            <a:endParaRPr b="1"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Dual USB-C Connectors — dedicated power and communication interfaces</a:t>
            </a:r>
            <a:endParaRPr b="1"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● LD1117S33TR — 3.3V voltage regulator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● Crystal Oscillator — provides stable MCU timing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ISP Header — used for firmware programming</a:t>
            </a:r>
            <a:endParaRPr b="1" sz="14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● Test Points — used for debugging and validation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● Status LED — visual activity indicator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48"/>
          <p:cNvSpPr txBox="1"/>
          <p:nvPr>
            <p:ph type="title"/>
          </p:nvPr>
        </p:nvSpPr>
        <p:spPr>
          <a:xfrm>
            <a:off x="2415150" y="-4500"/>
            <a:ext cx="4230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</a:t>
            </a:r>
            <a:r>
              <a:rPr lang="en"/>
              <a:t> Components: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"/>
          <p:cNvSpPr txBox="1"/>
          <p:nvPr>
            <p:ph type="title"/>
          </p:nvPr>
        </p:nvSpPr>
        <p:spPr>
          <a:xfrm>
            <a:off x="1765350" y="0"/>
            <a:ext cx="57072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Schematic:</a:t>
            </a:r>
            <a:endParaRPr sz="2900"/>
          </a:p>
        </p:txBody>
      </p:sp>
      <p:sp>
        <p:nvSpPr>
          <p:cNvPr id="459" name="Google Shape;459;p49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1208"/>
            <a:ext cx="9143999" cy="4719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"/>
          <p:cNvSpPr txBox="1"/>
          <p:nvPr>
            <p:ph type="title"/>
          </p:nvPr>
        </p:nvSpPr>
        <p:spPr>
          <a:xfrm>
            <a:off x="1864050" y="278550"/>
            <a:ext cx="5707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PCB Design:</a:t>
            </a:r>
            <a:endParaRPr sz="3100"/>
          </a:p>
        </p:txBody>
      </p:sp>
      <p:sp>
        <p:nvSpPr>
          <p:cNvPr id="466" name="Google Shape;466;p50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7" name="Google Shape;4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911" y="1293513"/>
            <a:ext cx="4460290" cy="2929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414913"/>
            <a:ext cx="4074111" cy="2686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1"/>
          <p:cNvSpPr txBox="1"/>
          <p:nvPr>
            <p:ph type="title"/>
          </p:nvPr>
        </p:nvSpPr>
        <p:spPr>
          <a:xfrm>
            <a:off x="1671450" y="-56100"/>
            <a:ext cx="57072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Design </a:t>
            </a:r>
            <a:r>
              <a:rPr lang="en" sz="2500"/>
              <a:t>Challenges</a:t>
            </a:r>
            <a:r>
              <a:rPr lang="en" sz="2500"/>
              <a:t>:</a:t>
            </a:r>
            <a:endParaRPr sz="2500"/>
          </a:p>
        </p:txBody>
      </p:sp>
      <p:sp>
        <p:nvSpPr>
          <p:cNvPr id="474" name="Google Shape;474;p51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1"/>
          <p:cNvSpPr txBox="1"/>
          <p:nvPr/>
        </p:nvSpPr>
        <p:spPr>
          <a:xfrm>
            <a:off x="533100" y="513300"/>
            <a:ext cx="8077800" cy="47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proof of concept used a DHT22 — functioned correctly and validated the sensing approach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BME280 was damaged during early testing due to incorrect pin labeling — pins were misidentified causing improper connections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Partner completed initial PCB layout, brought in for design review — identified missing decoupling and bulk capacitors and added them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points added to GND and sensor lines during review to allow probing for future sensor swaps or debugging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BME280 was correctly wired and operational, DHT22 was dropped entirely in favor of the more capable sensor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finalizing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edits, experimented with converting the board to a 4-layer stackup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how to assign vias to specific layers and route signals across inner copper layers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Gained hands-on understanding of how 4-layer boards are structured beyond standard 2-layer design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/>
          <p:nvPr>
            <p:ph type="title"/>
          </p:nvPr>
        </p:nvSpPr>
        <p:spPr>
          <a:xfrm>
            <a:off x="228600" y="228600"/>
            <a:ext cx="57072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Manufacturing Readiness</a:t>
            </a:r>
            <a:endParaRPr/>
          </a:p>
        </p:txBody>
      </p:sp>
      <p:sp>
        <p:nvSpPr>
          <p:cNvPr id="481" name="Google Shape;481;p52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2"/>
          <p:cNvSpPr txBox="1"/>
          <p:nvPr/>
        </p:nvSpPr>
        <p:spPr>
          <a:xfrm>
            <a:off x="812675" y="1038575"/>
            <a:ext cx="7253400" cy="3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All components are commercially available — Arduino, BME280, passives, connectors, crystal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Gerber files can be submitted directly to any PCB fab house (JLCPCB, PCBWay, OSHPark)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Board is fully functional as designed — can be ordered, assembled, and operational without any design changes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9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Test points ensure easy validation immediately after assembly</a:t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"/>
          <p:cNvSpPr txBox="1"/>
          <p:nvPr>
            <p:ph type="title"/>
          </p:nvPr>
        </p:nvSpPr>
        <p:spPr>
          <a:xfrm>
            <a:off x="1765350" y="141600"/>
            <a:ext cx="57072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How Does this Product Work?</a:t>
            </a:r>
            <a:endParaRPr sz="2900"/>
          </a:p>
        </p:txBody>
      </p:sp>
      <p:sp>
        <p:nvSpPr>
          <p:cNvPr id="488" name="Google Shape;488;p53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3"/>
          <p:cNvSpPr txBox="1"/>
          <p:nvPr/>
        </p:nvSpPr>
        <p:spPr>
          <a:xfrm>
            <a:off x="235400" y="957450"/>
            <a:ext cx="16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User Will Plug the device into their computer (via USB)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0" name="Google Shape;490;p53"/>
          <p:cNvSpPr/>
          <p:nvPr/>
        </p:nvSpPr>
        <p:spPr>
          <a:xfrm>
            <a:off x="1712525" y="1147500"/>
            <a:ext cx="717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1" name="Google Shape;491;p53"/>
          <p:cNvSpPr txBox="1"/>
          <p:nvPr/>
        </p:nvSpPr>
        <p:spPr>
          <a:xfrm>
            <a:off x="2470850" y="1049850"/>
            <a:ext cx="181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User will install our computer application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2" name="Google Shape;492;p53"/>
          <p:cNvSpPr/>
          <p:nvPr/>
        </p:nvSpPr>
        <p:spPr>
          <a:xfrm>
            <a:off x="4122525" y="1147500"/>
            <a:ext cx="717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3" name="Google Shape;493;p53"/>
          <p:cNvSpPr txBox="1"/>
          <p:nvPr/>
        </p:nvSpPr>
        <p:spPr>
          <a:xfrm>
            <a:off x="5000625" y="1049850"/>
            <a:ext cx="161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User will run the program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4" name="Google Shape;494;p53"/>
          <p:cNvSpPr/>
          <p:nvPr/>
        </p:nvSpPr>
        <p:spPr>
          <a:xfrm>
            <a:off x="6532525" y="1147500"/>
            <a:ext cx="717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5" name="Google Shape;495;p53"/>
          <p:cNvSpPr txBox="1"/>
          <p:nvPr/>
        </p:nvSpPr>
        <p:spPr>
          <a:xfrm>
            <a:off x="7331200" y="772800"/>
            <a:ext cx="1671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Program will </a:t>
            </a: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collect</a:t>
            </a: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data from the device, and push notifications to the User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496" name="Google Shape;49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9800" y="1676450"/>
            <a:ext cx="4146725" cy="33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4"/>
          <p:cNvSpPr txBox="1"/>
          <p:nvPr>
            <p:ph type="title"/>
          </p:nvPr>
        </p:nvSpPr>
        <p:spPr>
          <a:xfrm>
            <a:off x="1765350" y="141600"/>
            <a:ext cx="5707200" cy="6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What is our product doing?</a:t>
            </a:r>
            <a:endParaRPr sz="2900"/>
          </a:p>
        </p:txBody>
      </p:sp>
      <p:sp>
        <p:nvSpPr>
          <p:cNvPr id="502" name="Google Shape;502;p5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4"/>
          <p:cNvSpPr txBox="1"/>
          <p:nvPr/>
        </p:nvSpPr>
        <p:spPr>
          <a:xfrm>
            <a:off x="475600" y="2202300"/>
            <a:ext cx="161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ATmega328P-A collects environmental data through the BME280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4" name="Google Shape;504;p54"/>
          <p:cNvSpPr/>
          <p:nvPr/>
        </p:nvSpPr>
        <p:spPr>
          <a:xfrm>
            <a:off x="1803200" y="2392350"/>
            <a:ext cx="717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5" name="Google Shape;505;p54"/>
          <p:cNvSpPr txBox="1"/>
          <p:nvPr/>
        </p:nvSpPr>
        <p:spPr>
          <a:xfrm>
            <a:off x="2576475" y="2110050"/>
            <a:ext cx="181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Computer Program collects data through USB serial communication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6" name="Google Shape;506;p54"/>
          <p:cNvSpPr/>
          <p:nvPr/>
        </p:nvSpPr>
        <p:spPr>
          <a:xfrm>
            <a:off x="4213200" y="2392350"/>
            <a:ext cx="717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7" name="Google Shape;507;p54"/>
          <p:cNvSpPr txBox="1"/>
          <p:nvPr/>
        </p:nvSpPr>
        <p:spPr>
          <a:xfrm>
            <a:off x="5061450" y="2202300"/>
            <a:ext cx="161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Python </a:t>
            </a: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receives</a:t>
            </a: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data and graphs actual values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8" name="Google Shape;508;p54"/>
          <p:cNvSpPr/>
          <p:nvPr/>
        </p:nvSpPr>
        <p:spPr>
          <a:xfrm>
            <a:off x="6623200" y="2392350"/>
            <a:ext cx="717600" cy="35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09" name="Google Shape;509;p54"/>
          <p:cNvSpPr txBox="1"/>
          <p:nvPr/>
        </p:nvSpPr>
        <p:spPr>
          <a:xfrm>
            <a:off x="7472550" y="2110050"/>
            <a:ext cx="16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Python Predicts future trends and classifies a weather condition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5"/>
          <p:cNvSpPr txBox="1"/>
          <p:nvPr>
            <p:ph type="title"/>
          </p:nvPr>
        </p:nvSpPr>
        <p:spPr>
          <a:xfrm>
            <a:off x="1765350" y="0"/>
            <a:ext cx="5707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User Interface / Data Collection</a:t>
            </a:r>
            <a:endParaRPr sz="2900"/>
          </a:p>
        </p:txBody>
      </p:sp>
      <p:sp>
        <p:nvSpPr>
          <p:cNvPr id="515" name="Google Shape;515;p55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6" name="Google Shape;51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2509" y="1077300"/>
            <a:ext cx="2907692" cy="38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1394388"/>
            <a:ext cx="5747708" cy="3200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6"/>
          <p:cNvSpPr txBox="1"/>
          <p:nvPr>
            <p:ph type="title"/>
          </p:nvPr>
        </p:nvSpPr>
        <p:spPr>
          <a:xfrm>
            <a:off x="1671450" y="187800"/>
            <a:ext cx="57072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Mini Demonstration:</a:t>
            </a:r>
            <a:endParaRPr sz="2700"/>
          </a:p>
        </p:txBody>
      </p:sp>
      <p:sp>
        <p:nvSpPr>
          <p:cNvPr id="523" name="Google Shape;523;p56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4" name="Google Shape;5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225" y="857250"/>
            <a:ext cx="47434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"/>
          <p:cNvSpPr txBox="1"/>
          <p:nvPr>
            <p:ph type="title"/>
          </p:nvPr>
        </p:nvSpPr>
        <p:spPr>
          <a:xfrm>
            <a:off x="1718400" y="180150"/>
            <a:ext cx="5707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Conclusion:</a:t>
            </a:r>
            <a:endParaRPr sz="2400"/>
          </a:p>
        </p:txBody>
      </p:sp>
      <p:sp>
        <p:nvSpPr>
          <p:cNvPr id="530" name="Google Shape;530;p5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7"/>
          <p:cNvSpPr txBox="1"/>
          <p:nvPr/>
        </p:nvSpPr>
        <p:spPr>
          <a:xfrm>
            <a:off x="762725" y="1001125"/>
            <a:ext cx="76653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ans"/>
              <a:buChar char="●"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Successfully completed a full PCB design cycle from schematic capture to manufacturable layout in KiCad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ans"/>
              <a:buChar char="●"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Hands-on experience with real engineering challenges — damaged components, design reviews, and iterative fixes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ans"/>
              <a:buChar char="●"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Learned 4-layer board design, via management, decoupling strategy, and SPI sensor interfacing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ans"/>
              <a:buChar char="●"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Project has direct real-world application — already being used in a professional environment for environmental monitoring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Sans"/>
              <a:buChar char="●"/>
            </a:pPr>
            <a:r>
              <a:rPr lang="en" sz="16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Demonstrated that good engineering is iterative — the final design is stronger because of every mistake made along the way</a:t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